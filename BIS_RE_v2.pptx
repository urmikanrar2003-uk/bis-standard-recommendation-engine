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5459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bis-standard-recommendation-engine-gybzddvzi4rrezbzbpcdak.streamlit.app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0A7A7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743200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777240"/>
            <a:ext cx="1828800" cy="18288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0515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F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02920" y="16733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2834640"/>
            <a:ext cx="2560320" cy="365760"/>
          </a:xfrm>
          <a:prstGeom prst="rect">
            <a:avLst/>
          </a:prstGeom>
          <a:solidFill>
            <a:srgbClr val="1E293B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28346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Live on Streamlit Cloud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28600" y="3364992"/>
            <a:ext cx="2651760" cy="384048"/>
          </a:xfrm>
          <a:prstGeom prst="rect">
            <a:avLst/>
          </a:prstGeom>
          <a:solidFill>
            <a:srgbClr val="0A1628"/>
          </a:solidFill>
          <a:ln w="889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0" name="Text 8"/>
          <p:cNvSpPr/>
          <p:nvPr/>
        </p:nvSpPr>
        <p:spPr>
          <a:xfrm>
            <a:off x="256032" y="3401568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 @3  </a:t>
            </a:r>
            <a:r>
              <a:rPr lang="en-US" sz="900" dirty="0">
                <a:solidFill>
                  <a:schemeClr val="bg1">
                    <a:lumMod val="8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IN" sz="900" dirty="0">
                <a:solidFill>
                  <a:schemeClr val="bg1">
                    <a:lumMod val="8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</a:t>
            </a:r>
            <a:r>
              <a:rPr lang="en-IN" sz="900" dirty="0">
                <a:solidFill>
                  <a:schemeClr val="bg1">
                    <a:lumMod val="85000"/>
                  </a:schemeClr>
                </a:solidFill>
              </a:rPr>
              <a:t>10-query test set)</a:t>
            </a:r>
            <a:endParaRPr lang="en-US" sz="9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256032" y="3401568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28600" y="3877056"/>
            <a:ext cx="2651760" cy="384048"/>
          </a:xfrm>
          <a:prstGeom prst="rect">
            <a:avLst/>
          </a:prstGeom>
          <a:solidFill>
            <a:srgbClr val="0A1628"/>
          </a:solidFill>
          <a:ln w="889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256032" y="3877056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 @5 </a:t>
            </a:r>
            <a:r>
              <a:rPr lang="en-US" sz="900" dirty="0">
                <a:solidFill>
                  <a:schemeClr val="bg1">
                    <a:lumMod val="8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IN" sz="900" dirty="0">
                <a:solidFill>
                  <a:schemeClr val="bg1">
                    <a:lumMod val="8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</a:t>
            </a:r>
            <a:r>
              <a:rPr lang="en-IN" sz="900" dirty="0">
                <a:solidFill>
                  <a:schemeClr val="bg1">
                    <a:lumMod val="85000"/>
                  </a:schemeClr>
                </a:solidFill>
              </a:rPr>
              <a:t>10-query test set)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6032" y="3877056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28600" y="4352544"/>
            <a:ext cx="2651760" cy="384048"/>
          </a:xfrm>
          <a:prstGeom prst="rect">
            <a:avLst/>
          </a:prstGeom>
          <a:solidFill>
            <a:srgbClr val="0A1628"/>
          </a:solidFill>
          <a:ln w="889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6" name="Text 14"/>
          <p:cNvSpPr/>
          <p:nvPr/>
        </p:nvSpPr>
        <p:spPr>
          <a:xfrm>
            <a:off x="256032" y="4352544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Latency</a:t>
            </a:r>
            <a:r>
              <a:rPr lang="en-US" sz="900" dirty="0">
                <a:solidFill>
                  <a:schemeClr val="bg1">
                    <a:lumMod val="8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IN" sz="900" dirty="0">
                <a:solidFill>
                  <a:schemeClr val="bg1">
                    <a:lumMod val="8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</a:t>
            </a:r>
            <a:r>
              <a:rPr lang="en-IN" sz="900" dirty="0">
                <a:solidFill>
                  <a:schemeClr val="bg1">
                    <a:lumMod val="85000"/>
                  </a:schemeClr>
                </a:solidFill>
              </a:rPr>
              <a:t>10-query test </a:t>
            </a:r>
            <a:r>
              <a:rPr lang="en-IN" sz="900" dirty="0" err="1">
                <a:solidFill>
                  <a:schemeClr val="bg1">
                    <a:lumMod val="85000"/>
                  </a:schemeClr>
                </a:solidFill>
              </a:rPr>
              <a:t>set,warm</a:t>
            </a:r>
            <a:r>
              <a:rPr lang="en-IN" sz="900" dirty="0">
                <a:solidFill>
                  <a:schemeClr val="bg1">
                    <a:lumMod val="85000"/>
                  </a:schemeClr>
                </a:solidFill>
              </a:rPr>
              <a:t> cache)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56032" y="4352544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566160" y="548640"/>
            <a:ext cx="53035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Standard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292608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RAG system that maps Indian MSE product</a:t>
            </a:r>
            <a:endParaRPr lang="en-US" sz="1250" dirty="0"/>
          </a:p>
          <a:p>
            <a:pPr marL="0" indent="0">
              <a:buNone/>
            </a:pPr>
            <a:r>
              <a:rPr lang="en-US" sz="125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descriptions to Bureau of Indian Standards in milliseconds.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566160" y="3886200"/>
            <a:ext cx="868680" cy="274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1" name="Text 19"/>
          <p:cNvSpPr/>
          <p:nvPr/>
        </p:nvSpPr>
        <p:spPr>
          <a:xfrm>
            <a:off x="3566160" y="38862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PyMuPDF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498848" y="3886200"/>
            <a:ext cx="868680" cy="274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3" name="Text 21"/>
          <p:cNvSpPr/>
          <p:nvPr/>
        </p:nvSpPr>
        <p:spPr>
          <a:xfrm>
            <a:off x="4498848" y="38862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431536" y="3886200"/>
            <a:ext cx="868680" cy="274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5" name="Text 23"/>
          <p:cNvSpPr/>
          <p:nvPr/>
        </p:nvSpPr>
        <p:spPr>
          <a:xfrm>
            <a:off x="5431536" y="38862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364224" y="3886200"/>
            <a:ext cx="868680" cy="274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7" name="Text 25"/>
          <p:cNvSpPr/>
          <p:nvPr/>
        </p:nvSpPr>
        <p:spPr>
          <a:xfrm>
            <a:off x="6364224" y="38862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SBERT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296912" y="3886200"/>
            <a:ext cx="868680" cy="274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9" name="Text 27"/>
          <p:cNvSpPr/>
          <p:nvPr/>
        </p:nvSpPr>
        <p:spPr>
          <a:xfrm>
            <a:off x="7296912" y="38862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RRF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8229600" y="3886200"/>
            <a:ext cx="868680" cy="274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0" y="38862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566160" y="43891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 Submission  ·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23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BIS standard discovery is broken for Indian MSEs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2342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490118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Standard Recommendation Engine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95360" y="490118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097280"/>
            <a:ext cx="26974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097280"/>
            <a:ext cx="2697480" cy="91440"/>
          </a:xfrm>
          <a:prstGeom prst="rect">
            <a:avLst/>
          </a:prstGeom>
          <a:solidFill>
            <a:srgbClr val="0F2342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1216152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F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950(given)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74320" y="175564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BIS Standards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154680" y="1097280"/>
            <a:ext cx="26974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154680" y="1097280"/>
            <a:ext cx="2697480" cy="914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/>
          <p:nvPr/>
        </p:nvSpPr>
        <p:spPr>
          <a:xfrm>
            <a:off x="3154680" y="1216152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3154680" y="175564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MSE Search Time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35040" y="1097280"/>
            <a:ext cx="26974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35040" y="1097280"/>
            <a:ext cx="269748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0" y="1216152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12%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035040" y="175564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Compliance Awareness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74320" y="2304288"/>
            <a:ext cx="429768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2304288"/>
            <a:ext cx="64008" cy="10972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3" name="Text 21"/>
          <p:cNvSpPr/>
          <p:nvPr/>
        </p:nvSpPr>
        <p:spPr>
          <a:xfrm>
            <a:off x="438912" y="23957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Fragmented Corpus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38912" y="2688336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22k+ IS standards spread across categories with inconsistent naming — no unified intelligent search interface exists. (~950 given in the dataset)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754880" y="2304288"/>
            <a:ext cx="429768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304288"/>
            <a:ext cx="64008" cy="10972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7" name="Text 25"/>
          <p:cNvSpPr/>
          <p:nvPr/>
        </p:nvSpPr>
        <p:spPr>
          <a:xfrm>
            <a:off x="4919472" y="23957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Keyword-Only Portal Search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919472" y="2688336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portal returns irrelevant results for natural-language queries from non-expert MSE owners.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74320" y="3493008"/>
            <a:ext cx="429768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74320" y="3493008"/>
            <a:ext cx="64008" cy="10972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1" name="Text 29"/>
          <p:cNvSpPr/>
          <p:nvPr/>
        </p:nvSpPr>
        <p:spPr>
          <a:xfrm>
            <a:off x="438912" y="35844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PDF-Heavy Technical Content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38912" y="3877056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exist as clause-structured PDFs — naive text search loses context and misses cross-references.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754880" y="3493008"/>
            <a:ext cx="429768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754880" y="3493008"/>
            <a:ext cx="64008" cy="10972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5" name="Text 33"/>
          <p:cNvSpPr/>
          <p:nvPr/>
        </p:nvSpPr>
        <p:spPr>
          <a:xfrm>
            <a:off x="4919472" y="35844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Compliance Risk for MSEs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919472" y="3877056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expert staff, MSEs face weeks of manual research, missed standards, and costly audit failures.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23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Plain-English input → Top 3–5 ranked BIS standards in under 0.03 seconds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2342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490118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Standard Recommendation Engine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95360" y="490118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051560"/>
            <a:ext cx="8595360" cy="594360"/>
          </a:xfrm>
          <a:prstGeom prst="rect">
            <a:avLst/>
          </a:prstGeom>
          <a:solidFill>
            <a:srgbClr val="0F2342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05156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"We manufacture 33 Grade Ordinary Portland Cement."  →  Output: IS 269: 1989 · IS 8112: 1989 · IS 1489 …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74320" y="1783080"/>
            <a:ext cx="2743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1783080"/>
            <a:ext cx="274320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187452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📂  Data Ingestion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216712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data_ingestion.py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65760" y="2350008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PyMuPDF extracts all IS-numbered entries from dataset.pdf using regex-based IS_PATTERN, outputting structured bis_standards.json with id, title, description, keywords.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154680" y="1783080"/>
            <a:ext cx="2743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54680" y="1783080"/>
            <a:ext cx="274320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8" name="Text 16"/>
          <p:cNvSpPr/>
          <p:nvPr/>
        </p:nvSpPr>
        <p:spPr>
          <a:xfrm>
            <a:off x="3246120" y="187452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FAISS Embedding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46120" y="216712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embedder.py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246120" y="2350008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sentence-transformers/all-MiniLM-L6-v2 encodes each standard as a 384-dim L2-normalized vector. Stored in a FAISS IndexFlatIP for cosine search.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035040" y="1783080"/>
            <a:ext cx="2743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035040" y="1783080"/>
            <a:ext cx="274320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187452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Hybrid Retrieval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26480" y="216712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retriever.py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2350008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dense search + BM25Okapi sparse search run in parallel. Both return top-50 candidates, fused via Reciprocal Rank Fusion (k=60).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74320" y="3246120"/>
            <a:ext cx="2743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274320" y="3246120"/>
            <a:ext cx="274320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333756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Identity Matcher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65760" y="363016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retriever.py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65760" y="3813048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 ID normalization resolves IS 2185 vs IS2185 vs IS-2185. Core title substring match gives +10 boost; exact ID match gives +20 boost.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154680" y="3246120"/>
            <a:ext cx="2743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154680" y="3246120"/>
            <a:ext cx="274320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3" name="Text 31"/>
          <p:cNvSpPr/>
          <p:nvPr/>
        </p:nvSpPr>
        <p:spPr>
          <a:xfrm>
            <a:off x="3246120" y="333756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 Domain Knowledge Map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246120" y="363016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retriever.py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3246120" y="3813048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Hard-links critical terms to standards: "CALCINEDCLAY"→IS1489Part2, "FLYASH"→IS1489Part1, "SLAG"→IS455 etc. Gives +50 dominant boost for domain matches.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035040" y="3246120"/>
            <a:ext cx="2743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035040" y="3246120"/>
            <a:ext cx="274320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8" name="Text 36"/>
          <p:cNvSpPr/>
          <p:nvPr/>
        </p:nvSpPr>
        <p:spPr>
          <a:xfrm>
            <a:off x="6126480" y="333756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Streamlit UI + Inference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126480" y="363016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 / inference.py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126480" y="3813048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Dark-gradient Streamlit dashboard with example queries. Inference.py warm-up ghost query primes model cache. Avg latency: 0.02s on test set.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23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dataset.pdf to ranked BIS standards — the exact pipeline from the codebase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2342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490118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Standard Recommendation Engine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95360" y="490118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28600" y="1143000"/>
            <a:ext cx="960120" cy="1005840"/>
          </a:xfrm>
          <a:prstGeom prst="rect">
            <a:avLst/>
          </a:prstGeom>
          <a:solidFill>
            <a:srgbClr val="64748B"/>
          </a:solidFill>
          <a:ln/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28600" y="1170432"/>
            <a:ext cx="96012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dataset.pdf</a:t>
            </a:r>
            <a:endParaRPr lang="en-US" sz="780" dirty="0"/>
          </a:p>
          <a:p>
            <a:pPr marL="0" indent="0" algn="ctr">
              <a:buNone/>
            </a:pPr>
            <a:r>
              <a:rPr lang="en-US" sz="7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(BIS Corpus)</a:t>
            </a:r>
            <a:endParaRPr lang="en-US" sz="780" dirty="0"/>
          </a:p>
        </p:txBody>
      </p:sp>
      <p:sp>
        <p:nvSpPr>
          <p:cNvPr id="11" name="Text 9"/>
          <p:cNvSpPr/>
          <p:nvPr/>
        </p:nvSpPr>
        <p:spPr>
          <a:xfrm>
            <a:off x="1188720" y="1572768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335024" y="1143000"/>
            <a:ext cx="960120" cy="1005840"/>
          </a:xfrm>
          <a:prstGeom prst="rect">
            <a:avLst/>
          </a:prstGeom>
          <a:solidFill>
            <a:srgbClr val="0F2342"/>
          </a:solidFill>
          <a:ln/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335024" y="1170432"/>
            <a:ext cx="96012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data_ingestion</a:t>
            </a:r>
            <a:endParaRPr lang="en-US" sz="780" dirty="0"/>
          </a:p>
          <a:p>
            <a:pPr marL="0" indent="0" algn="ctr">
              <a:buNone/>
            </a:pPr>
            <a:r>
              <a:rPr lang="en-US" sz="7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.py</a:t>
            </a:r>
            <a:endParaRPr lang="en-US" sz="780" dirty="0"/>
          </a:p>
          <a:p>
            <a:pPr marL="0" indent="0" algn="ctr">
              <a:buNone/>
            </a:pPr>
            <a:r>
              <a:rPr lang="en-US" sz="7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(PyMuPDF)</a:t>
            </a:r>
            <a:endParaRPr lang="en-US" sz="780" dirty="0"/>
          </a:p>
        </p:txBody>
      </p:sp>
      <p:sp>
        <p:nvSpPr>
          <p:cNvPr id="14" name="Text 12"/>
          <p:cNvSpPr/>
          <p:nvPr/>
        </p:nvSpPr>
        <p:spPr>
          <a:xfrm>
            <a:off x="2295144" y="1572768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441448" y="1143000"/>
            <a:ext cx="960120" cy="1005840"/>
          </a:xfrm>
          <a:prstGeom prst="rect">
            <a:avLst/>
          </a:prstGeom>
          <a:solidFill>
            <a:srgbClr val="0F2342"/>
          </a:solidFill>
          <a:ln/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441448" y="1170432"/>
            <a:ext cx="96012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bis_standards</a:t>
            </a:r>
            <a:endParaRPr lang="en-US" sz="780" dirty="0"/>
          </a:p>
          <a:p>
            <a:pPr marL="0" indent="0" algn="ctr">
              <a:buNone/>
            </a:pPr>
            <a:r>
              <a:rPr lang="en-US" sz="7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.json</a:t>
            </a:r>
            <a:endParaRPr lang="en-US" sz="780" dirty="0"/>
          </a:p>
          <a:p>
            <a:pPr marL="0" indent="0" algn="ctr">
              <a:buNone/>
            </a:pPr>
            <a:r>
              <a:rPr lang="en-US" sz="7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(~950 stds)</a:t>
            </a:r>
            <a:endParaRPr lang="en-US" sz="780" dirty="0"/>
          </a:p>
        </p:txBody>
      </p:sp>
      <p:sp>
        <p:nvSpPr>
          <p:cNvPr id="17" name="Text 15"/>
          <p:cNvSpPr/>
          <p:nvPr/>
        </p:nvSpPr>
        <p:spPr>
          <a:xfrm>
            <a:off x="3401568" y="1572768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547872" y="1143000"/>
            <a:ext cx="960120" cy="1005840"/>
          </a:xfrm>
          <a:prstGeom prst="rect">
            <a:avLst/>
          </a:prstGeom>
          <a:solidFill>
            <a:srgbClr val="0D9488"/>
          </a:solidFill>
          <a:ln/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547872" y="1170432"/>
            <a:ext cx="96012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embedder.py</a:t>
            </a:r>
            <a:endParaRPr lang="en-US" sz="780" dirty="0"/>
          </a:p>
          <a:p>
            <a:pPr marL="0" indent="0" algn="ctr">
              <a:buNone/>
            </a:pPr>
            <a:r>
              <a:rPr lang="en-US" sz="7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(MiniLM</a:t>
            </a:r>
            <a:endParaRPr lang="en-US" sz="780" dirty="0"/>
          </a:p>
          <a:p>
            <a:pPr marL="0" indent="0" algn="ctr">
              <a:buNone/>
            </a:pPr>
            <a:r>
              <a:rPr lang="en-US" sz="7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FAISS)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4507992" y="1572768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54296" y="1143000"/>
            <a:ext cx="960120" cy="1005840"/>
          </a:xfrm>
          <a:prstGeom prst="rect">
            <a:avLst/>
          </a:prstGeom>
          <a:solidFill>
            <a:srgbClr val="0D9488"/>
          </a:solidFill>
          <a:ln/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654296" y="1170432"/>
            <a:ext cx="96012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</a:t>
            </a:r>
            <a:endParaRPr lang="en-US" sz="780" dirty="0"/>
          </a:p>
          <a:p>
            <a:pPr marL="0" indent="0" algn="ctr">
              <a:buNone/>
            </a:pPr>
            <a:r>
              <a:rPr lang="en-US" sz="7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+</a:t>
            </a:r>
            <a:endParaRPr lang="en-US" sz="780" dirty="0"/>
          </a:p>
          <a:p>
            <a:pPr marL="0" indent="0" algn="ctr">
              <a:buNone/>
            </a:pPr>
            <a:r>
              <a:rPr lang="en-US" sz="7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780" dirty="0"/>
          </a:p>
        </p:txBody>
      </p:sp>
      <p:sp>
        <p:nvSpPr>
          <p:cNvPr id="23" name="Text 21"/>
          <p:cNvSpPr/>
          <p:nvPr/>
        </p:nvSpPr>
        <p:spPr>
          <a:xfrm>
            <a:off x="5614416" y="1572768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60720" y="1143000"/>
            <a:ext cx="960120" cy="1005840"/>
          </a:xfrm>
          <a:prstGeom prst="rect">
            <a:avLst/>
          </a:prstGeom>
          <a:solidFill>
            <a:srgbClr val="7C3AED"/>
          </a:solidFill>
          <a:ln/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760720" y="1170432"/>
            <a:ext cx="96012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retriever.py</a:t>
            </a:r>
            <a:endParaRPr lang="en-US" sz="780" dirty="0"/>
          </a:p>
          <a:p>
            <a:pPr marL="0" indent="0" algn="ctr">
              <a:buNone/>
            </a:pPr>
            <a:r>
              <a:rPr lang="en-US" sz="7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RRF</a:t>
            </a:r>
            <a:endParaRPr lang="en-US" sz="780" dirty="0"/>
          </a:p>
          <a:p>
            <a:pPr marL="0" indent="0" algn="ctr">
              <a:buNone/>
            </a:pPr>
            <a:r>
              <a:rPr lang="en-US" sz="7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+Booster</a:t>
            </a:r>
            <a:endParaRPr lang="en-US" sz="780" dirty="0"/>
          </a:p>
        </p:txBody>
      </p:sp>
      <p:sp>
        <p:nvSpPr>
          <p:cNvPr id="26" name="Text 24"/>
          <p:cNvSpPr/>
          <p:nvPr/>
        </p:nvSpPr>
        <p:spPr>
          <a:xfrm>
            <a:off x="6720840" y="1572768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67144" y="1143000"/>
            <a:ext cx="960120" cy="1005840"/>
          </a:xfrm>
          <a:prstGeom prst="rect">
            <a:avLst/>
          </a:prstGeom>
          <a:solidFill>
            <a:srgbClr val="F59E0B"/>
          </a:solidFill>
          <a:ln/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867144" y="1170432"/>
            <a:ext cx="96012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pipeline.py</a:t>
            </a:r>
            <a:endParaRPr lang="en-US" sz="780" dirty="0"/>
          </a:p>
          <a:p>
            <a:pPr marL="0" indent="0" algn="ctr">
              <a:buNone/>
            </a:pPr>
            <a:r>
              <a:rPr lang="en-US" sz="7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recommend()</a:t>
            </a:r>
            <a:endParaRPr lang="en-US" sz="780" dirty="0"/>
          </a:p>
        </p:txBody>
      </p:sp>
      <p:sp>
        <p:nvSpPr>
          <p:cNvPr id="29" name="Text 27"/>
          <p:cNvSpPr/>
          <p:nvPr/>
        </p:nvSpPr>
        <p:spPr>
          <a:xfrm>
            <a:off x="7827264" y="1572768"/>
            <a:ext cx="146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973568" y="1143000"/>
            <a:ext cx="960120" cy="1005840"/>
          </a:xfrm>
          <a:prstGeom prst="rect">
            <a:avLst/>
          </a:prstGeom>
          <a:solidFill>
            <a:srgbClr val="22C55E"/>
          </a:solidFill>
          <a:ln/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973568" y="1170432"/>
            <a:ext cx="96012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3–5</a:t>
            </a:r>
            <a:endParaRPr lang="en-US" sz="780" dirty="0"/>
          </a:p>
          <a:p>
            <a:pPr marL="0" indent="0" algn="ctr">
              <a:buNone/>
            </a:pPr>
            <a:r>
              <a:rPr lang="en-US" sz="7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</a:t>
            </a:r>
            <a:endParaRPr lang="en-US" sz="780" dirty="0"/>
          </a:p>
          <a:p>
            <a:pPr marL="0" indent="0" algn="ctr">
              <a:buNone/>
            </a:pPr>
            <a:r>
              <a:rPr lang="en-US" sz="7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MRR 1.0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228600" y="2267712"/>
            <a:ext cx="3291840" cy="256032"/>
          </a:xfrm>
          <a:prstGeom prst="rect">
            <a:avLst/>
          </a:prstGeom>
          <a:solidFill>
            <a:srgbClr val="EEF2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28600" y="226771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F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OFFLINE: Ingestion &amp; Indexing (run once)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931920" y="2267712"/>
            <a:ext cx="4892040" cy="256032"/>
          </a:xfrm>
          <a:prstGeom prst="rect">
            <a:avLst/>
          </a:prstGeom>
          <a:solidFill>
            <a:srgbClr val="F0FDF4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31920" y="2267712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ONLINE: Query Pipeline (pipeline.py → recommend())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74320" y="26791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STRUCTURE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74320" y="2990088"/>
            <a:ext cx="859536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1480" y="301752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src/config.py          — Paths, model names, TOP_K_RETRIEVE=50, TOP_K_FINAL=5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3319272"/>
            <a:ext cx="8595360" cy="292608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11480" y="3346704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src/data_ingestion.py  — PDF → structured JSON via PyMuPDF + IS_PATTERN regex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74320" y="3648456"/>
            <a:ext cx="859536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1480" y="3675888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src/embedder.py        — JSON → FAISS IndexFlatIP (L2-normalized, dim=384)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74320" y="3977640"/>
            <a:ext cx="8595360" cy="292608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11480" y="4005072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src/retriever.py       — HybridRetriever: FAISS + BM25 + RRF + Identity Boost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74320" y="4306824"/>
            <a:ext cx="859536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1480" y="4334256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src/pipeline.py        — recommend() wrapper with latency measurement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74320" y="4636008"/>
            <a:ext cx="8595360" cy="292608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1480" y="466344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                 — Streamlit UI  |  inference.py — Judge entry-point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23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&amp; Retrieval Strategy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standards are parsed, indexed, and retrieved — direct from the source code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2342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490118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Standard Recommendation Engine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95360" y="490118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051560"/>
            <a:ext cx="4023360" cy="329184"/>
          </a:xfrm>
          <a:prstGeom prst="rect">
            <a:avLst/>
          </a:prstGeom>
          <a:solidFill>
            <a:srgbClr val="0F2342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5156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✂  CHUNKING  (data_ingestion.py + embedder.py)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1444752"/>
            <a:ext cx="402336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517904"/>
            <a:ext cx="347472" cy="34747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1517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4672" y="147218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IS_PATTERN Regex Extraction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04672" y="172821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all IS-number forms: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 269 : 1989", "IS 2185 (Part 1) : 1979" — regex handles spaces, colons, newlines across PDF pages.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74320" y="2295144"/>
            <a:ext cx="402336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368296"/>
            <a:ext cx="347472" cy="34747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23682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04672" y="232257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Window-Based Description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04672" y="257860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between consecutive IS-number matches (max 600 chars). Title = first non-empty line. Description capped at 400 chars.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74320" y="3145536"/>
            <a:ext cx="402336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218688"/>
            <a:ext cx="347472" cy="34747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218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672" y="317296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Extraction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4672" y="34290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 letter words from id+title+description, filtered by _STOPWORDS set. Max 20 keywords stored per standard.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74320" y="3995928"/>
            <a:ext cx="402336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4069080"/>
            <a:ext cx="347472" cy="34747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4069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04672" y="402336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Chunk Format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04672" y="427939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_build_chunk(): "{standard_id} | {title} | {description}". L2-normalized 384-dim vector stored in FAISS IndexFlatIP.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26280" y="1051560"/>
            <a:ext cx="4343400" cy="32918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2" name="Text 30"/>
          <p:cNvSpPr/>
          <p:nvPr/>
        </p:nvSpPr>
        <p:spPr>
          <a:xfrm>
            <a:off x="4526280" y="1051560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RETRIEVAL  (retriever.py)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26280" y="1444752"/>
            <a:ext cx="4343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26280" y="1444752"/>
            <a:ext cx="64008" cy="78638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5" name="Text 33"/>
          <p:cNvSpPr/>
          <p:nvPr/>
        </p:nvSpPr>
        <p:spPr>
          <a:xfrm>
            <a:off x="4663440" y="148132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Dense: _dense_search()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663440" y="173736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model.encode(query, normalize_embeddings=True) → FAISS IndexFlatIP.search() → top-50 (doc_idx, cosine_score) pairs.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526280" y="2295144"/>
            <a:ext cx="4343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526280" y="2295144"/>
            <a:ext cx="64008" cy="786384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9" name="Text 37"/>
          <p:cNvSpPr/>
          <p:nvPr/>
        </p:nvSpPr>
        <p:spPr>
          <a:xfrm>
            <a:off x="4663440" y="233172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B5B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Sparse: _sparse_search()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663440" y="2587752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BM25Okapi on tokenized chunks. bm25.get_scores(tokens) → argsort descending → top-50 (doc_idx, bm25_score) pairs.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526280" y="3145536"/>
            <a:ext cx="4343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526280" y="3145536"/>
            <a:ext cx="64008" cy="78638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3" name="Text 41"/>
          <p:cNvSpPr/>
          <p:nvPr/>
        </p:nvSpPr>
        <p:spPr>
          <a:xfrm>
            <a:off x="4663440" y="318211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RRF: _rrf_fusion(k=60)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663440" y="3438144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rrf[idx] += 1/(60+rank_i) for each ranked list. No score calibration needed. Documents in both lists get compounding boosts.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526280" y="3995928"/>
            <a:ext cx="4343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526280" y="3995928"/>
            <a:ext cx="64008" cy="78638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7" name="Text 45"/>
          <p:cNvSpPr/>
          <p:nvPr/>
        </p:nvSpPr>
        <p:spPr>
          <a:xfrm>
            <a:off x="4663440" y="4032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Identity + Domain Boost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4663440" y="4288536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exact IS-id match. +10 core title substring. +50 KNOWLEDGE_MAP hit (e.g. CALCINEDCLAY→IS1489PART2). +30 Part-Strict match.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 &amp; Precision Matching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65760" y="5852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into retriever.py — how HybridRetriever achieves MRR 1.0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2342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490118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Standard Recommendation Engine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95360" y="490118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20040" y="1078992"/>
            <a:ext cx="8503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queries are fundamentally dual-natured — semantic ('portland cement') AND keyword-exact ('IS 1489 Part 2'). Neither retriever alone achieves MRR 1.0. The engine runs both in parallel and fuses using Reciprocal Rank Fusion, then applies domain-specific boosting to handle the long tail of technical terminology.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" y="1828800"/>
            <a:ext cx="3977640" cy="1417320"/>
          </a:xfrm>
          <a:prstGeom prst="rect">
            <a:avLst/>
          </a:prstGeom>
          <a:solidFill>
            <a:srgbClr val="0A2540"/>
          </a:solidFill>
          <a:ln w="15240">
            <a:solidFill>
              <a:srgbClr val="0D94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828800"/>
            <a:ext cx="3977640" cy="3200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" y="182880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Dense — _dense_search()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8912" y="2176272"/>
            <a:ext cx="374904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</a:t>
            </a:r>
            <a:r>
              <a:rPr lang="en-US" sz="9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all-MiniLM-L6-v2 (384-dim)
</a:t>
            </a:r>
            <a:r>
              <a:rPr lang="en-US" sz="9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Index: </a:t>
            </a:r>
            <a:r>
              <a:rPr lang="en-US" sz="9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IndexFlatIP (inner product = cosine after L2-norm)
</a:t>
            </a:r>
            <a:r>
              <a:rPr lang="en-US" sz="9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Top-K: </a:t>
            </a:r>
            <a:r>
              <a:rPr lang="en-US" sz="9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TOP_K_RETRIEVE=50 candidates per retriever
</a:t>
            </a:r>
            <a:r>
              <a:rPr lang="en-US" sz="9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Strength: </a:t>
            </a:r>
            <a:r>
              <a:rPr lang="en-US" sz="9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synonyms, paraphrases (OPC ↔ Portland)
</a:t>
            </a: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Weakness: </a:t>
            </a:r>
            <a:r>
              <a:rPr lang="en-US" sz="9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Misses exact IS codes and rare domain acronyms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0" y="1828800"/>
            <a:ext cx="4251960" cy="1417320"/>
          </a:xfrm>
          <a:prstGeom prst="rect">
            <a:avLst/>
          </a:prstGeom>
          <a:solidFill>
            <a:srgbClr val="0A2540"/>
          </a:solidFill>
          <a:ln w="15240">
            <a:solidFill>
              <a:srgbClr val="3B5B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0" y="1828800"/>
            <a:ext cx="4251960" cy="32004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0" y="182880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Sparse — _sparse_search()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681728" y="2176272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Library: </a:t>
            </a:r>
            <a:r>
              <a:rPr lang="en-US" sz="9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· BM25Okapi variant
</a:t>
            </a:r>
            <a:r>
              <a:rPr lang="en-US" sz="9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Index: </a:t>
            </a:r>
            <a:r>
              <a:rPr lang="en-US" sz="9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Inverted index on chunk.lower().split() tokens
</a:t>
            </a:r>
            <a:r>
              <a:rPr lang="en-US" sz="9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Top-K: </a:t>
            </a:r>
            <a:r>
              <a:rPr lang="en-US" sz="9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bm25.get_scores() → argsort() → top-50
</a:t>
            </a:r>
            <a:r>
              <a:rPr lang="en-US" sz="9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Strength: </a:t>
            </a:r>
            <a:r>
              <a:rPr lang="en-US" sz="9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IS codes, part numbers, product names
</a:t>
            </a: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Weakness: </a:t>
            </a:r>
            <a:r>
              <a:rPr lang="en-US" sz="9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recall on OOV terms, paraphrases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3337560"/>
            <a:ext cx="8503920" cy="530352"/>
          </a:xfrm>
          <a:prstGeom prst="rect">
            <a:avLst/>
          </a:prstGeom>
          <a:solidFill>
            <a:srgbClr val="0D1F33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8912" y="335584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RRF FUSION  (k=60):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38912" y="35661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rrf[idx] = rrf.get(idx, 0.0) + 1.0 / (k + rank_i)    →  sorted descending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560320" y="3364992"/>
            <a:ext cx="612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in both lists get compounded score.  k=60 dampens top-rank outliers.  No score normalisation required.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20040" y="3950208"/>
            <a:ext cx="8503920" cy="25603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3959352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KNOWLEDGE MAP  (retriever.py — +50 dominant boost per match)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4224528"/>
            <a:ext cx="2084832" cy="274320"/>
          </a:xfrm>
          <a:prstGeom prst="rect">
            <a:avLst/>
          </a:prstGeom>
          <a:solidFill>
            <a:srgbClr val="0A1628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4048" y="4251960"/>
            <a:ext cx="199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CALCINEDCLAY→IS1489PART2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450592" y="4224528"/>
            <a:ext cx="2084832" cy="274320"/>
          </a:xfrm>
          <a:prstGeom prst="rect">
            <a:avLst/>
          </a:prstGeom>
          <a:solidFill>
            <a:srgbClr val="0A1628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4251960"/>
            <a:ext cx="199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FLYASH→IS1489PART1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581144" y="4224528"/>
            <a:ext cx="2084832" cy="274320"/>
          </a:xfrm>
          <a:prstGeom prst="rect">
            <a:avLst/>
          </a:prstGeom>
          <a:solidFill>
            <a:srgbClr val="0A1628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45152" y="4251960"/>
            <a:ext cx="199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SLAG→IS455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711696" y="4224528"/>
            <a:ext cx="2084832" cy="274320"/>
          </a:xfrm>
          <a:prstGeom prst="rect">
            <a:avLst/>
          </a:prstGeom>
          <a:solidFill>
            <a:srgbClr val="0A1628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75704" y="4251960"/>
            <a:ext cx="199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ASBESTOS→IS459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20040" y="4535424"/>
            <a:ext cx="2084832" cy="274320"/>
          </a:xfrm>
          <a:prstGeom prst="rect">
            <a:avLst/>
          </a:prstGeom>
          <a:solidFill>
            <a:srgbClr val="0D1F33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4048" y="4562856"/>
            <a:ext cx="199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MASONRYCEMENT→IS3466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450592" y="4535424"/>
            <a:ext cx="2084832" cy="274320"/>
          </a:xfrm>
          <a:prstGeom prst="rect">
            <a:avLst/>
          </a:prstGeom>
          <a:solidFill>
            <a:srgbClr val="0D1F33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514600" y="4562856"/>
            <a:ext cx="199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WHITEPORTLAND→IS8042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581144" y="4535424"/>
            <a:ext cx="2084832" cy="274320"/>
          </a:xfrm>
          <a:prstGeom prst="rect">
            <a:avLst/>
          </a:prstGeom>
          <a:solidFill>
            <a:srgbClr val="0D1F33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45152" y="4562856"/>
            <a:ext cx="199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AGGREGATES→IS383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711696" y="4535424"/>
            <a:ext cx="2084832" cy="274320"/>
          </a:xfrm>
          <a:prstGeom prst="rect">
            <a:avLst/>
          </a:prstGeom>
          <a:solidFill>
            <a:srgbClr val="0D1F33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75704" y="4562856"/>
            <a:ext cx="199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SULPHATERESISTING→IS12330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23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Highlights &amp; Evaluation Results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output from inference.py on the public test set — 100% Hit Rate, MRR 1.0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2342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490118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Standard Recommendation Engine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95360" y="490118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051560"/>
            <a:ext cx="4160520" cy="2743200"/>
          </a:xfrm>
          <a:prstGeom prst="rect">
            <a:avLst/>
          </a:prstGeom>
          <a:solidFill>
            <a:srgbClr val="1E1B4B"/>
          </a:solidFill>
          <a:ln/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051560"/>
            <a:ext cx="4160520" cy="292608"/>
          </a:xfrm>
          <a:prstGeom prst="rect">
            <a:avLst/>
          </a:prstGeom>
          <a:solidFill>
            <a:srgbClr val="0F0C29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0698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● ●   BIS Standard Finder  —  Streamlit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84048" y="14173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your product: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84048" y="1618488"/>
            <a:ext cx="39319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164592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produce Portland Pozzolana Cement using calcined clay.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84048" y="2194560"/>
            <a:ext cx="3931920" cy="2926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384048" y="21945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Find BIS Standards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84048" y="26060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Top 3 Recommended BIS Standards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84048" y="2816352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Processed in 0.02s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84048" y="3017520"/>
            <a:ext cx="3931920" cy="438912"/>
          </a:xfrm>
          <a:prstGeom prst="rect">
            <a:avLst/>
          </a:prstGeom>
          <a:solidFill>
            <a:srgbClr val="1E1B4B"/>
          </a:solidFill>
          <a:ln w="6350">
            <a:solidFill>
              <a:srgbClr val="4338C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304495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🥇 IS 1489 (Part 2): 1991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75488" y="325526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Portland Pozzolana Cement (Calcined Clay)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84048" y="3493008"/>
            <a:ext cx="3931920" cy="438912"/>
          </a:xfrm>
          <a:prstGeom prst="rect">
            <a:avLst/>
          </a:prstGeom>
          <a:solidFill>
            <a:srgbClr val="1E1B4B"/>
          </a:solidFill>
          <a:ln w="6350">
            <a:solidFill>
              <a:srgbClr val="4338C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" y="352044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🥈 IS 1489 (Part 1): 1991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5488" y="373075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Portland Pozzolana Cement (Fly Ash)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84048" y="3968496"/>
            <a:ext cx="3931920" cy="438912"/>
          </a:xfrm>
          <a:prstGeom prst="rect">
            <a:avLst/>
          </a:prstGeom>
          <a:solidFill>
            <a:srgbClr val="1E1B4B"/>
          </a:solidFill>
          <a:ln w="6350">
            <a:solidFill>
              <a:srgbClr val="4338C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" y="399592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🥉 IS 455: 1989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75488" y="420624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Portland Slag Cement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663440" y="1051560"/>
            <a:ext cx="4206240" cy="292608"/>
          </a:xfrm>
          <a:prstGeom prst="rect">
            <a:avLst/>
          </a:prstGeom>
          <a:solidFill>
            <a:srgbClr val="0F2342"/>
          </a:solidFill>
          <a:ln/>
        </p:spPr>
      </p:sp>
      <p:sp>
        <p:nvSpPr>
          <p:cNvPr id="29" name="Text 27"/>
          <p:cNvSpPr/>
          <p:nvPr/>
        </p:nvSpPr>
        <p:spPr>
          <a:xfrm>
            <a:off x="4663440" y="105156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eval_script.py — PUBLIC TEST SET RESULTS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63440" y="1371600"/>
            <a:ext cx="4206240" cy="1828800"/>
          </a:xfrm>
          <a:prstGeom prst="rect">
            <a:avLst/>
          </a:prstGeom>
          <a:solidFill>
            <a:srgbClr val="0F172A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0" y="1435608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Queries Evaluated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589520" y="143560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10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754880" y="168249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Hit Rate @3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589520" y="168249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100.00%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754880" y="1929384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MRR @5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589520" y="192938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1.0000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754880" y="217627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 Latency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589520" y="217627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0.02 sec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754880" y="242316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 Hit Rate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7589520" y="24231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&gt; 80%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754880" y="2670048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 MRR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589520" y="267004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&gt; 0.70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4754880" y="291693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 Latency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589520" y="291693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&lt; 5 sec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663440" y="3291840"/>
            <a:ext cx="4206240" cy="256032"/>
          </a:xfrm>
          <a:prstGeom prst="rect">
            <a:avLst/>
          </a:prstGeom>
          <a:solidFill>
            <a:srgbClr val="0F2342"/>
          </a:solidFill>
          <a:ln/>
        </p:spPr>
      </p:sp>
      <p:sp>
        <p:nvSpPr>
          <p:cNvPr id="46" name="Text 44"/>
          <p:cNvSpPr/>
          <p:nvPr/>
        </p:nvSpPr>
        <p:spPr>
          <a:xfrm>
            <a:off x="4663440" y="329184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Comparison (retriever.py boosting layers)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663440" y="3584448"/>
            <a:ext cx="3017520" cy="256032"/>
          </a:xfrm>
          <a:prstGeom prst="rect">
            <a:avLst/>
          </a:prstGeom>
          <a:solidFill>
            <a:srgbClr val="0F2342"/>
          </a:solidFill>
          <a:ln w="5080">
            <a:solidFill>
              <a:srgbClr val="CBD5E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18304" y="3611880"/>
            <a:ext cx="2944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7680960" y="3584448"/>
            <a:ext cx="1371600" cy="256032"/>
          </a:xfrm>
          <a:prstGeom prst="rect">
            <a:avLst/>
          </a:prstGeom>
          <a:solidFill>
            <a:srgbClr val="0F2342"/>
          </a:solidFill>
          <a:ln w="5080">
            <a:solidFill>
              <a:srgbClr val="CBD5E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35824" y="3611880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Hit@3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9052560" y="3584448"/>
            <a:ext cx="731520" cy="256032"/>
          </a:xfrm>
          <a:prstGeom prst="rect">
            <a:avLst/>
          </a:prstGeom>
          <a:solidFill>
            <a:srgbClr val="0F2342"/>
          </a:solidFill>
          <a:ln w="5080">
            <a:solidFill>
              <a:srgbClr val="CBD5E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107424" y="3611880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MRR@5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663440" y="3849624"/>
            <a:ext cx="3017520" cy="256032"/>
          </a:xfrm>
          <a:prstGeom prst="rect">
            <a:avLst/>
          </a:prstGeom>
          <a:solidFill>
            <a:srgbClr val="F0F4F8"/>
          </a:solidFill>
          <a:ln w="5080">
            <a:solidFill>
              <a:srgbClr val="CBD5E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3877056"/>
            <a:ext cx="2944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Only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7680960" y="3849624"/>
            <a:ext cx="1371600" cy="256032"/>
          </a:xfrm>
          <a:prstGeom prst="rect">
            <a:avLst/>
          </a:prstGeom>
          <a:solidFill>
            <a:srgbClr val="F0F4F8"/>
          </a:solidFill>
          <a:ln w="5080">
            <a:solidFill>
              <a:srgbClr val="CBD5E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35824" y="3877056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9052560" y="3849624"/>
            <a:ext cx="731520" cy="256032"/>
          </a:xfrm>
          <a:prstGeom prst="rect">
            <a:avLst/>
          </a:prstGeom>
          <a:solidFill>
            <a:srgbClr val="F0F4F8"/>
          </a:solidFill>
          <a:ln w="5080">
            <a:solidFill>
              <a:srgbClr val="CBD5E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107424" y="387705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~0.55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4663440" y="4114800"/>
            <a:ext cx="301752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18304" y="4142232"/>
            <a:ext cx="2944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Only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680960" y="4114800"/>
            <a:ext cx="137160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35824" y="4142232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~70%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9052560" y="4114800"/>
            <a:ext cx="73152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107424" y="414223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~0.65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4663440" y="4379976"/>
            <a:ext cx="3017520" cy="256032"/>
          </a:xfrm>
          <a:prstGeom prst="rect">
            <a:avLst/>
          </a:prstGeom>
          <a:solidFill>
            <a:srgbClr val="F0F4F8"/>
          </a:solidFill>
          <a:ln w="5080">
            <a:solidFill>
              <a:srgbClr val="CBD5E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718304" y="4407408"/>
            <a:ext cx="2944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RRF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7680960" y="4379976"/>
            <a:ext cx="1371600" cy="256032"/>
          </a:xfrm>
          <a:prstGeom prst="rect">
            <a:avLst/>
          </a:prstGeom>
          <a:solidFill>
            <a:srgbClr val="F0F4F8"/>
          </a:solidFill>
          <a:ln w="5080">
            <a:solidFill>
              <a:srgbClr val="CBD5E1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735824" y="4407408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~85%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052560" y="4379976"/>
            <a:ext cx="731520" cy="256032"/>
          </a:xfrm>
          <a:prstGeom prst="rect">
            <a:avLst/>
          </a:prstGeom>
          <a:solidFill>
            <a:srgbClr val="F0F4F8"/>
          </a:solidFill>
          <a:ln w="5080">
            <a:solidFill>
              <a:srgbClr val="CBD5E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107424" y="440740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~0.85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663440" y="4645152"/>
            <a:ext cx="3017520" cy="256032"/>
          </a:xfrm>
          <a:prstGeom prst="rect">
            <a:avLst/>
          </a:prstGeom>
          <a:solidFill>
            <a:srgbClr val="0D2B12"/>
          </a:solidFill>
          <a:ln w="5080">
            <a:solidFill>
              <a:srgbClr val="CBD5E1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718304" y="4672584"/>
            <a:ext cx="2944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Identity/Knowledge Boost ✓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7680960" y="4645152"/>
            <a:ext cx="1371600" cy="256032"/>
          </a:xfrm>
          <a:prstGeom prst="rect">
            <a:avLst/>
          </a:prstGeom>
          <a:solidFill>
            <a:srgbClr val="0D2B12"/>
          </a:solidFill>
          <a:ln w="5080">
            <a:solidFill>
              <a:srgbClr val="CBD5E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735824" y="4672584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9052560" y="4645152"/>
            <a:ext cx="731520" cy="256032"/>
          </a:xfrm>
          <a:prstGeom prst="rect">
            <a:avLst/>
          </a:prstGeom>
          <a:solidFill>
            <a:srgbClr val="0D2B12"/>
          </a:solidFill>
          <a:ln w="5080">
            <a:solidFill>
              <a:srgbClr val="CBD5E1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107424" y="467258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on MSEs  &amp;  Closing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weeks of manual search to sub-30ms automated compliance — </a:t>
            </a:r>
            <a:r>
              <a:rPr lang="en-IN" sz="1000" dirty="0">
                <a:solidFill>
                  <a:srgbClr val="00B050"/>
                </a:solidFill>
              </a:rPr>
              <a:t>Potential relevance for India’s 63 million MSMEs</a:t>
            </a:r>
            <a:endParaRPr lang="en-US" sz="950" dirty="0">
              <a:solidFill>
                <a:srgbClr val="00B050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-35170" y="4892040"/>
            <a:ext cx="9144000" cy="251460"/>
          </a:xfrm>
          <a:prstGeom prst="rect">
            <a:avLst/>
          </a:prstGeom>
          <a:solidFill>
            <a:srgbClr val="0F2342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490118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Standard Recommendation Engine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95360" y="490118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024128"/>
            <a:ext cx="4251960" cy="1298448"/>
          </a:xfrm>
          <a:prstGeom prst="rect">
            <a:avLst/>
          </a:prstGeom>
          <a:solidFill>
            <a:srgbClr val="0A254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1024128"/>
            <a:ext cx="4251960" cy="31089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384048" y="106984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Time: Weeks → 0.02s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4048" y="1408176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BIS search takes MSEs 1–4 weeks. The recommend() function with warm-up ghost query delivers results in 0.02s avg — 99.9% reduction.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09160" y="1024128"/>
            <a:ext cx="4251960" cy="1298448"/>
          </a:xfrm>
          <a:prstGeom prst="rect">
            <a:avLst/>
          </a:prstGeom>
          <a:solidFill>
            <a:srgbClr val="0A2540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09160" y="1024128"/>
            <a:ext cx="4251960" cy="31089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5" name="Text 13"/>
          <p:cNvSpPr/>
          <p:nvPr/>
        </p:nvSpPr>
        <p:spPr>
          <a:xfrm>
            <a:off x="4818888" y="106984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100% Hit Rate @3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18888" y="1408176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test query returns the correct standard in the top 3. Part-Strict logic (±30) and Knowledge Map (+50) eliminate ambiguity between IS 1489 Part 1 and Part 2.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320" y="2414016"/>
            <a:ext cx="4251960" cy="1298448"/>
          </a:xfrm>
          <a:prstGeom prst="rect">
            <a:avLst/>
          </a:prstGeom>
          <a:solidFill>
            <a:srgbClr val="0A254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" y="2414016"/>
            <a:ext cx="4251960" cy="31089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384048" y="245973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 Free &amp; Local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84048" y="2798064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OpenAI API calls</a:t>
            </a:r>
            <a:r>
              <a:rPr lang="en-US" sz="950" dirty="0">
                <a:solidFill>
                  <a:schemeClr val="bg1">
                    <a:lumMod val="8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.(</a:t>
            </a:r>
            <a:r>
              <a:rPr lang="en-US" sz="1000" dirty="0">
                <a:solidFill>
                  <a:schemeClr val="bg1">
                    <a:lumMod val="85000"/>
                  </a:schemeClr>
                </a:solidFill>
              </a:rPr>
              <a:t>Retrieval-only RAG pipeline. local embeddings, no external API calls)</a:t>
            </a:r>
            <a:r>
              <a:rPr lang="en-US" sz="1000" dirty="0"/>
              <a:t>)</a:t>
            </a: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Runs entirely on CPU: FAISS + BM25 + sentence-transformers/all-MiniLM-L6-v2. MSEs with basic hardware can self-host.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709160" y="2414016"/>
            <a:ext cx="4251960" cy="1298448"/>
          </a:xfrm>
          <a:prstGeom prst="rect">
            <a:avLst/>
          </a:prstGeom>
          <a:solidFill>
            <a:srgbClr val="0A2540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09160" y="2414016"/>
            <a:ext cx="4251960" cy="310896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23" name="Text 21"/>
          <p:cNvSpPr/>
          <p:nvPr/>
        </p:nvSpPr>
        <p:spPr>
          <a:xfrm>
            <a:off x="4818888" y="245973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Plain-Language Input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818888" y="2798064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owners describe their product in natural English. No BIS numbering knowledge needed. Streamlit UI with example queries removes all technical barriers.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144897" y="3806190"/>
            <a:ext cx="8918917" cy="1065276"/>
          </a:xfrm>
          <a:prstGeom prst="rect">
            <a:avLst/>
          </a:prstGeom>
          <a:solidFill>
            <a:srgbClr val="050E1A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813048"/>
            <a:ext cx="914400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390448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365760" y="440740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🔗https://github.com/urmikanrar2003-uk/BIS-STANDARD-RECOMMENDATION-ENGINE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63888" y="4683134"/>
            <a:ext cx="5432943" cy="907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Live demo</a:t>
            </a:r>
            <a:r>
              <a:rPr lang="en-US" sz="7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IN" sz="700" u="sng" dirty="0">
                <a:hlinkClick r:id="rId3"/>
              </a:rPr>
              <a:t>https://bis-standard-recommendation-engine-gybzddvzi4rrezbzbpcdak.streamlit.app/</a:t>
            </a:r>
            <a:r>
              <a:rPr lang="en-US" sz="8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0.02s avg latency  ·  MRR 1.0  ·  Hit Rate 100%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577840" y="3904488"/>
            <a:ext cx="457200" cy="8686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1" name="Text 29"/>
          <p:cNvSpPr/>
          <p:nvPr/>
        </p:nvSpPr>
        <p:spPr>
          <a:xfrm>
            <a:off x="5577840" y="3904488"/>
            <a:ext cx="457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6080760" y="3904488"/>
            <a:ext cx="457200" cy="8686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3" name="Text 31"/>
          <p:cNvSpPr/>
          <p:nvPr/>
        </p:nvSpPr>
        <p:spPr>
          <a:xfrm>
            <a:off x="6080760" y="3904488"/>
            <a:ext cx="457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6583680" y="3904488"/>
            <a:ext cx="457200" cy="8686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5" name="Text 33"/>
          <p:cNvSpPr/>
          <p:nvPr/>
        </p:nvSpPr>
        <p:spPr>
          <a:xfrm>
            <a:off x="6583680" y="3904488"/>
            <a:ext cx="457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7086600" y="3904488"/>
            <a:ext cx="457200" cy="8686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7" name="Text 35"/>
          <p:cNvSpPr/>
          <p:nvPr/>
        </p:nvSpPr>
        <p:spPr>
          <a:xfrm>
            <a:off x="7086600" y="3904488"/>
            <a:ext cx="457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SBERT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7589520" y="3904488"/>
            <a:ext cx="457200" cy="8686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9" name="Text 37"/>
          <p:cNvSpPr/>
          <p:nvPr/>
        </p:nvSpPr>
        <p:spPr>
          <a:xfrm>
            <a:off x="7589520" y="3904488"/>
            <a:ext cx="457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RRF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8092440" y="3904488"/>
            <a:ext cx="457200" cy="8686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1" name="Text 39"/>
          <p:cNvSpPr/>
          <p:nvPr/>
        </p:nvSpPr>
        <p:spPr>
          <a:xfrm>
            <a:off x="8092440" y="3904488"/>
            <a:ext cx="457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8595360" y="3904488"/>
            <a:ext cx="457200" cy="8686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3" name="Text 41"/>
          <p:cNvSpPr/>
          <p:nvPr/>
        </p:nvSpPr>
        <p:spPr>
          <a:xfrm>
            <a:off x="8595360" y="3904488"/>
            <a:ext cx="457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PyMuPDF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1686</Words>
  <Application>Microsoft Office PowerPoint</Application>
  <PresentationFormat>On-screen Show (16:9)</PresentationFormat>
  <Paragraphs>229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BIS Standard Recommendation Engine</dc:title>
  <dc:subject>PptxGenJS Presentation</dc:subject>
  <dc:creator>PptxGenJS</dc:creator>
  <cp:lastModifiedBy>Urmi Kanrar</cp:lastModifiedBy>
  <cp:revision>8</cp:revision>
  <dcterms:created xsi:type="dcterms:W3CDTF">2026-05-03T21:04:16Z</dcterms:created>
  <dcterms:modified xsi:type="dcterms:W3CDTF">2026-05-04T11:43:30Z</dcterms:modified>
</cp:coreProperties>
</file>