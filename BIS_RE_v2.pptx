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45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7A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777240"/>
            <a:ext cx="1828800" cy="1828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25603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on Streamlit Cloud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3364992"/>
            <a:ext cx="2651760" cy="384048"/>
          </a:xfrm>
          <a:prstGeom prst="rect">
            <a:avLst/>
          </a:prstGeom>
          <a:solidFill>
            <a:srgbClr val="0A1628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56032" y="340156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@3  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10-query test set)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032" y="340156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877056"/>
            <a:ext cx="2651760" cy="384048"/>
          </a:xfrm>
          <a:prstGeom prst="rect">
            <a:avLst/>
          </a:prstGeom>
          <a:solidFill>
            <a:srgbClr val="0A1628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256032" y="38770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@5 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10-query test set)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387705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4352544"/>
            <a:ext cx="2651760" cy="384048"/>
          </a:xfrm>
          <a:prstGeom prst="rect">
            <a:avLst/>
          </a:prstGeom>
          <a:solidFill>
            <a:srgbClr val="0A1628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256032" y="435254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10-query test </a:t>
            </a:r>
            <a:r>
              <a:rPr lang="en-IN" sz="900" dirty="0" err="1">
                <a:solidFill>
                  <a:schemeClr val="bg1">
                    <a:lumMod val="85000"/>
                  </a:schemeClr>
                </a:solidFill>
              </a:rPr>
              <a:t>set,warm</a:t>
            </a:r>
            <a:r>
              <a:rPr lang="en-IN" sz="900" dirty="0">
                <a:solidFill>
                  <a:schemeClr val="bg1">
                    <a:lumMod val="85000"/>
                  </a:schemeClr>
                </a:solidFill>
              </a:rPr>
              <a:t> cache)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" y="435254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66160" y="5486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566160" y="2926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RAG system that maps Indian MSE product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to Bureau of Indian Standards in milliseconds.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566160" y="3886200"/>
            <a:ext cx="868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98848" y="3886200"/>
            <a:ext cx="868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31536" y="3886200"/>
            <a:ext cx="868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431536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64224" y="3886200"/>
            <a:ext cx="868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96912" y="3886200"/>
            <a:ext cx="868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296912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29600" y="3886200"/>
            <a:ext cx="868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66160" y="4389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BIS standard discovery is broken for Indian MSEs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2697480" cy="9144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1615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950(given)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" y="17556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BIS Standards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97280"/>
            <a:ext cx="269748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21615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154680" y="17556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MSE Search 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97280"/>
            <a:ext cx="26974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21615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35040" y="17556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Compliance Awareness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304288"/>
            <a:ext cx="4297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04288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Fragmented Corpus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2688336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22k+ IS standards spread across categories with inconsistent naming — no unified intelligent search interface exists. (~950 given in the dataset)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04288"/>
            <a:ext cx="4297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04288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Keyword-Only Portal Search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2688336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portal returns irrelevant results for natural-language queries from non-expert MSE owners.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93008"/>
            <a:ext cx="4297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493008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3584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PDF-Heavy Technical Content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8912" y="3877056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exist as clause-structured PDFs — naive text search loses context and misses cross-references.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493008"/>
            <a:ext cx="42976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493008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584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Compliance Risk for MSEs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3877056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expert staff, MSEs face weeks of manual research, missed standards, and costly audit failures.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input → Top 3–5 ranked BIS standards in under 0.03 seconds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"We manufacture 33 Grade Ordinary Portland Cement."  →  Output: IS 269: 1989 · IS 8112: 1989 · IS 1489 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83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74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 Ingestion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67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data_ingestion.py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35000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extracts all IS-numbered entries from dataset.pdf using regex-based IS_PATTERN, outputting structured bis_standards.json with id, title, description, keywords.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54680" y="178308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783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874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FAISS Embedding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167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embedder.py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46120" y="235000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encodes each standard as a 384-dim L2-normalized vector. Stored in a FAISS IndexFlatIP for cosine search.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78308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7830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874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Hybrid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167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retriever.py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235000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dense search + BM25Okapi sparse search run in parallel. Both return top-50 candidates, fused via Reciprocal Rank Fusion (k=60).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24612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Identity Matcher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630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8130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ID normalization resolves IS 2185 vs IS2185 vs IS-2185. Core title substring match gives +10 boost; exact ID match gives +20 boost.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54680" y="32461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324612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Domain Knowledge 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3630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retriever.py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46120" y="38130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Hard-links critical terms to standards: "CALCINEDCLAY"→IS1489Part2, "FLYASH"→IS1489Part1, "SLAG"→IS455 etc. Gives +50 dominant boost for domain matches.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32461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24612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Streamlit UI + Inference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3630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/ inference.py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38130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Dark-gradient Streamlit dashboard with example queries. Inference.py warm-up ghost query primes model cache. Avg latency: 0.02s on test set.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dataset.pdf to ranked BIS standards — the exact pipeline from the codebase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960120" cy="1005840"/>
          </a:xfrm>
          <a:prstGeom prst="rect">
            <a:avLst/>
          </a:prstGeom>
          <a:solidFill>
            <a:srgbClr val="64748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dataset.pdf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(BIS Corpus)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88720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35024" y="1143000"/>
            <a:ext cx="960120" cy="1005840"/>
          </a:xfrm>
          <a:prstGeom prst="rect">
            <a:avLst/>
          </a:prstGeom>
          <a:solidFill>
            <a:srgbClr val="0F2342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35024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(PyMuPDF)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295144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41448" y="1143000"/>
            <a:ext cx="960120" cy="1005840"/>
          </a:xfrm>
          <a:prstGeom prst="rect">
            <a:avLst/>
          </a:prstGeom>
          <a:solidFill>
            <a:srgbClr val="0F2342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41448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bis_standards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(~950 stds)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401568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1143000"/>
            <a:ext cx="96012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47872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embedder.py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(MiniLM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507992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54296" y="1143000"/>
            <a:ext cx="960120" cy="1005840"/>
          </a:xfrm>
          <a:prstGeom prst="rect">
            <a:avLst/>
          </a:prstGeom>
          <a:solidFill>
            <a:srgbClr val="0D9488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54296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5614416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1143000"/>
            <a:ext cx="960120" cy="1005840"/>
          </a:xfrm>
          <a:prstGeom prst="rect">
            <a:avLst/>
          </a:prstGeom>
          <a:solidFill>
            <a:srgbClr val="7C3AED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retriever.py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+Booster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720840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67144" y="1143000"/>
            <a:ext cx="960120" cy="100584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67144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recommend()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827264" y="15727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73568" y="1143000"/>
            <a:ext cx="960120" cy="1005840"/>
          </a:xfrm>
          <a:prstGeom prst="rect">
            <a:avLst/>
          </a:prstGeom>
          <a:solidFill>
            <a:srgbClr val="22C55E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973568" y="1170432"/>
            <a:ext cx="9601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3–5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MRR 1.0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28600" y="2267712"/>
            <a:ext cx="3291840" cy="25603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267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Ingestion &amp; Indexing (run once)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31920" y="2267712"/>
            <a:ext cx="489204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2267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Query Pipeline (pipeline.py → recommend())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2679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990088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0175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src/config.py          — Paths, model names, TOP_K_RETRIEVE=50, TOP_K_FINAL=5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319272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34670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src/data_ingestion.py  — PDF → structured JSON via PyMuPDF + IS_PATTERN regex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648456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758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src/embedder.py        — JSON → FAISS IndexFlatIP (L2-normalized, dim=384)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77640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0050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src/retriever.py       — HybridRetriever: FAISS + BM25 + RRF + Identity Boost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306824"/>
            <a:ext cx="8595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3342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src/pipeline.py        — recommend() wrapper with latency measurement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636008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663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               — Streamlit UI  |  inference.py — Judge entry-point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Retrieval Strategy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standards are parsed, indexed, and retrieved — direct from the source code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023360" cy="329184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515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CHUNKING  (data_ingestion.py + embedder.py)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1790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147218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IS_PATTERN Regex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1728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all IS-number forms: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269 : 1989", "IS 2185 (Part 1) : 1979" — regex handles spaces, colons, newlines across PDF pages.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295144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682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32257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Window-Based Description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between consecutive IS-number matches (max 600 chars). Title = first non-empty line. Description capped at 400 chars.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145536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186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17296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letter words from id+title+description, filtered by _STOPWORDS set. Max 20 keywords stored per standard.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995928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690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40233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Chunk Format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_build_chunk(): "{standard_id} | {title} | {description}". L2-normalized 384-dim vector stored in FAISS IndexFlatIP.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26280" y="1051560"/>
            <a:ext cx="434340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10515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RETRIEVAL  (retriever.py)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1444752"/>
            <a:ext cx="4343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1444752"/>
            <a:ext cx="64008" cy="7863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4813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Dense: _dense_search()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17373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model.encode(query, normalize_embeddings=True) → FAISS IndexFlatIP.search() → top-50 (doc_idx, cosine_score) pairs.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26280" y="2295144"/>
            <a:ext cx="4343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26280" y="2295144"/>
            <a:ext cx="64008" cy="78638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23317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Sparse: _sparse_search()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25877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BM25Okapi on tokenized chunks. bm25.get_scores(tokens) → argsort descending → top-50 (doc_idx, bm25_score) pairs.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26280" y="3145536"/>
            <a:ext cx="4343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26280" y="3145536"/>
            <a:ext cx="64008" cy="7863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182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RRF: _rrf_fusion(k=60)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34381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rrf[idx] += 1/(60+rank_i) for each ranked list. No score calibration needed. Documents in both lists get compounding boosts.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26280" y="3995928"/>
            <a:ext cx="4343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26280" y="3995928"/>
            <a:ext cx="64008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4032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+ Domain Boost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63440" y="428853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exact IS-id match. +10 core title substring. +50 KNOWLEDGE_MAP hit (e.g. CALCINEDCLAY→IS1489PART2). +30 Part-Strict match.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&amp; Precision Matching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retriever.py — how HybridRetriever achieves MRR 1.0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queries are fundamentally dual-natured — semantic ('portland cement') AND keyword-exact ('IS 1489 Part 2'). Neither retriever alone achieves MRR 1.0. The engine runs both in parallel and fuses using Reciprocal Rank Fusion, then applies domain-specific boosting to handle the long tail of technical terminology.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3977640" cy="1417320"/>
          </a:xfrm>
          <a:prstGeom prst="rect">
            <a:avLst/>
          </a:prstGeom>
          <a:solidFill>
            <a:srgbClr val="0A2540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28800"/>
            <a:ext cx="39776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828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Dense — _dense_search()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176272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(384-dim)
</a:t>
            </a: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 (inner product = cosine after L2-norm)
</a:t>
            </a: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TOP_K_RETRIEVE=50 candidates per retriever
</a:t>
            </a: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synonyms, paraphrases (OPC ↔ Portland)
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exact IS codes and rare domain acronyms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4251960" cy="1417320"/>
          </a:xfrm>
          <a:prstGeom prst="rect">
            <a:avLst/>
          </a:prstGeom>
          <a:solidFill>
            <a:srgbClr val="0A2540"/>
          </a:solidFill>
          <a:ln w="15240">
            <a:solidFill>
              <a:srgbClr val="3B5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828800"/>
            <a:ext cx="4251960" cy="32004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828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Sparse — _sparse_search()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2176272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· BM25Okapi variant
</a:t>
            </a: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on chunk.lower().split() tokens
</a:t>
            </a: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bm25.get_scores() → argsort() → top-50
</a:t>
            </a: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IS codes, part numbers, product names
</a:t>
            </a: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recall on OOV terms, paraphrases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8503920" cy="530352"/>
          </a:xfrm>
          <a:prstGeom prst="rect">
            <a:avLst/>
          </a:prstGeom>
          <a:solidFill>
            <a:srgbClr val="0D1F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355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 (k=60):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rrf[idx] = rrf.get(idx, 0.0) + 1.0 / (k + rank_i)    →  sorted descending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336499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 both lists get compounded score.  k=60 dampens top-rank outliers.  No score normalisation required.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950208"/>
            <a:ext cx="850392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9593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MAP  (retriever.py — +50 dominant boost per match)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2084832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2519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CALCINEDCLAY→IS1489PART2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50592" y="4224528"/>
            <a:ext cx="2084832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42519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FLYASH→IS1489PART1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81144" y="4224528"/>
            <a:ext cx="2084832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2519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SLAG→IS455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11696" y="4224528"/>
            <a:ext cx="2084832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5704" y="42519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ASBESTOS→IS459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535424"/>
            <a:ext cx="2084832" cy="274320"/>
          </a:xfrm>
          <a:prstGeom prst="rect">
            <a:avLst/>
          </a:prstGeom>
          <a:solidFill>
            <a:srgbClr val="0D1F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56285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MASONRYCEMENT→IS3466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0592" y="4535424"/>
            <a:ext cx="2084832" cy="274320"/>
          </a:xfrm>
          <a:prstGeom prst="rect">
            <a:avLst/>
          </a:prstGeom>
          <a:solidFill>
            <a:srgbClr val="0D1F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456285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WHITEPORTLAND→IS8042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81144" y="4535424"/>
            <a:ext cx="2084832" cy="274320"/>
          </a:xfrm>
          <a:prstGeom prst="rect">
            <a:avLst/>
          </a:prstGeom>
          <a:solidFill>
            <a:srgbClr val="0D1F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56285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AGGREGATES→IS383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11696" y="4535424"/>
            <a:ext cx="2084832" cy="274320"/>
          </a:xfrm>
          <a:prstGeom prst="rect">
            <a:avLst/>
          </a:prstGeom>
          <a:solidFill>
            <a:srgbClr val="0D1F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75704" y="456285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SULPHATERESISTING→IS12330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Highlights &amp; Evaluation Results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inference.py on the public test set — 100% Hit Rate, MRR 1.0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160520" cy="2743200"/>
          </a:xfrm>
          <a:prstGeom prst="rect">
            <a:avLst/>
          </a:prstGeom>
          <a:solidFill>
            <a:srgbClr val="1E1B4B"/>
          </a:solidFill>
          <a:ln/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51560"/>
            <a:ext cx="4160520" cy="292608"/>
          </a:xfrm>
          <a:prstGeom prst="rect">
            <a:avLst/>
          </a:prstGeom>
          <a:solidFill>
            <a:srgbClr val="0F0C2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069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BIS Standard Finder  —  Streamlit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417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product: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61848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produce Portland Pozzolana Cement using calcined clay.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194560"/>
            <a:ext cx="39319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Find BIS Standards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606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Top 3 Recommended BIS Standards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8163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Processed in 0.02s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3017520"/>
            <a:ext cx="3931920" cy="438912"/>
          </a:xfrm>
          <a:prstGeom prst="rect">
            <a:avLst/>
          </a:prstGeom>
          <a:solidFill>
            <a:srgbClr val="1E1B4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044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IS 1489 (Part 2): 1991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2552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Pozzolana Cement (Calcined Clay)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493008"/>
            <a:ext cx="3931920" cy="438912"/>
          </a:xfrm>
          <a:prstGeom prst="rect">
            <a:avLst/>
          </a:prstGeom>
          <a:solidFill>
            <a:srgbClr val="1E1B4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520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IS 1489 (Part 1): 1991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3730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Pozzolana Cement (Fly Ash)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3968496"/>
            <a:ext cx="3931920" cy="438912"/>
          </a:xfrm>
          <a:prstGeom prst="rect">
            <a:avLst/>
          </a:prstGeom>
          <a:solidFill>
            <a:srgbClr val="1E1B4B"/>
          </a:solidFill>
          <a:ln w="635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995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IS 455: 1989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4206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Slag Cement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4206240" cy="292608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051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eval_script.py — PUBLIC TEST SET RESULTS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371600"/>
            <a:ext cx="4206240" cy="1828800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435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Queries Evaluated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89520" y="14356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16824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Rate @3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89520" y="1682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100.00%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19293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MRR @5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89520" y="19293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1.0000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21762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Latency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89520" y="21762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0.02 sec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24231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Hit Rate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0" y="2423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&gt; 80%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26700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MRR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589520" y="2670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&gt; 0.70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29169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Latency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589520" y="2916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&lt; 5 sec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291840"/>
            <a:ext cx="4206240" cy="256032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291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Comparison (retriever.py boosting layers)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3584448"/>
            <a:ext cx="3017520" cy="256032"/>
          </a:xfrm>
          <a:prstGeom prst="rect">
            <a:avLst/>
          </a:prstGeom>
          <a:solidFill>
            <a:srgbClr val="0F234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61188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680960" y="3584448"/>
            <a:ext cx="1371600" cy="256032"/>
          </a:xfrm>
          <a:prstGeom prst="rect">
            <a:avLst/>
          </a:prstGeom>
          <a:solidFill>
            <a:srgbClr val="0F234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35824" y="36118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052560" y="3584448"/>
            <a:ext cx="731520" cy="256032"/>
          </a:xfrm>
          <a:prstGeom prst="rect">
            <a:avLst/>
          </a:prstGeom>
          <a:solidFill>
            <a:srgbClr val="0F234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07424" y="3611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849624"/>
            <a:ext cx="30175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387705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Only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80960" y="3849624"/>
            <a:ext cx="137160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35824" y="38770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052560" y="3849624"/>
            <a:ext cx="7315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07424" y="38770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~0.55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4114800"/>
            <a:ext cx="301752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18304" y="414223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Only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80960" y="4114800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35824" y="41422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052560" y="4114800"/>
            <a:ext cx="73152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07424" y="41422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4379976"/>
            <a:ext cx="30175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8304" y="440740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680960" y="4379976"/>
            <a:ext cx="137160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35824" y="44074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052560" y="4379976"/>
            <a:ext cx="7315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07424" y="44074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63440" y="4645152"/>
            <a:ext cx="3017520" cy="256032"/>
          </a:xfrm>
          <a:prstGeom prst="rect">
            <a:avLst/>
          </a:prstGeom>
          <a:solidFill>
            <a:srgbClr val="0D2B1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18304" y="467258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Identity/Knowledge Boost ✓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680960" y="4645152"/>
            <a:ext cx="1371600" cy="256032"/>
          </a:xfrm>
          <a:prstGeom prst="rect">
            <a:avLst/>
          </a:prstGeom>
          <a:solidFill>
            <a:srgbClr val="0D2B1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35824" y="46725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052560" y="4645152"/>
            <a:ext cx="731520" cy="256032"/>
          </a:xfrm>
          <a:prstGeom prst="rect">
            <a:avLst/>
          </a:prstGeom>
          <a:solidFill>
            <a:srgbClr val="0D2B1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07424" y="46725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MSEs  &amp;  Closing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weeks of manual search to sub-30ms automated compliance — </a:t>
            </a:r>
            <a:r>
              <a:rPr lang="en-IN" sz="1000" dirty="0">
                <a:solidFill>
                  <a:srgbClr val="00B050"/>
                </a:solidFill>
              </a:rPr>
              <a:t>Potential relevance for India’s 63 million MSMEs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-35170" y="4892040"/>
            <a:ext cx="9144000" cy="251460"/>
          </a:xfrm>
          <a:prstGeom prst="rect">
            <a:avLst/>
          </a:prstGeom>
          <a:solidFill>
            <a:srgbClr val="0F234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011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 Recommendation Engine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901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4251960" cy="129844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24128"/>
            <a:ext cx="425196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069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Time: Weeks → 0.02s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40817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BIS search takes MSEs 1–4 weeks. The recommend() function with warm-up ghost query delivers results in 0.02s avg — 99.9% reduction.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251960" cy="1298448"/>
          </a:xfrm>
          <a:prstGeom prst="rect">
            <a:avLst/>
          </a:prstGeom>
          <a:solidFill>
            <a:srgbClr val="0A25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24128"/>
            <a:ext cx="4251960" cy="31089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069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100% Hit Rate @3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40817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query returns the correct standard in the top 3. Part-Strict logic (±30) and Knowledge Map (+50) eliminate ambiguity between IS 1489 Part 1 and Part 2.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251960" cy="1298448"/>
          </a:xfrm>
          <a:prstGeom prst="rect">
            <a:avLst/>
          </a:prstGeom>
          <a:solidFill>
            <a:srgbClr val="0A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14016"/>
            <a:ext cx="425196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4597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Free &amp; Local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279806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OpenAI API calls</a:t>
            </a: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.(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Retrieval-only RAG pipeline. local embeddings, no external API calls)</a:t>
            </a:r>
            <a:r>
              <a:rPr lang="en-US" sz="1000" dirty="0"/>
              <a:t>)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entirely on CPU: FAISS + BM25 + sentence-transformers/all-MiniLM-L6-v2. MSEs with basic hardware can self-host.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414016"/>
            <a:ext cx="4251960" cy="1298448"/>
          </a:xfrm>
          <a:prstGeom prst="rect">
            <a:avLst/>
          </a:prstGeom>
          <a:solidFill>
            <a:srgbClr val="0A25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414016"/>
            <a:ext cx="4251960" cy="3108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24597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Plain-Language Input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8888" y="279806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owners describe their product in natural English. No BIS numbering knowledge needed. Streamlit UI with example queries removes all technical barriers.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3813048"/>
            <a:ext cx="9144000" cy="1078992"/>
          </a:xfrm>
          <a:prstGeom prst="rect">
            <a:avLst/>
          </a:prstGeom>
          <a:solidFill>
            <a:srgbClr val="050E1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813048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904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65760" y="4407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github.com/urmikanrar2003-uk/BIS-STANDARD-RECOMMENDATION-ENGINE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6360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demo: streamlit.app  ·  0.02s avg latency  ·  MRR 1.0  ·  Hit Rate 100%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08076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58368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08660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58952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09244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809244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595360" y="3904488"/>
            <a:ext cx="4572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0" y="3904488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1679</Words>
  <Application>Microsoft Office PowerPoint</Application>
  <PresentationFormat>On-screen Show (16:9)</PresentationFormat>
  <Paragraphs>229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 Recommendation Engine</dc:title>
  <dc:subject>PptxGenJS Presentation</dc:subject>
  <dc:creator>PptxGenJS</dc:creator>
  <cp:lastModifiedBy>Urmi Kanrar</cp:lastModifiedBy>
  <cp:revision>7</cp:revision>
  <dcterms:created xsi:type="dcterms:W3CDTF">2026-05-03T21:04:16Z</dcterms:created>
  <dcterms:modified xsi:type="dcterms:W3CDTF">2026-05-03T21:29:42Z</dcterms:modified>
</cp:coreProperties>
</file>