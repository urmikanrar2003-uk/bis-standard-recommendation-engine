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0" y="0"/>
            <a:ext cx="64008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BIS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1488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9260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3794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AI-Powered RAG System for Indian MSEs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96"/>
                </a:solidFill>
                <a:latin typeface="Calibri"/>
              </a:rPr>
              <a:t>BIS × Sigma Squad AI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6F8A"/>
                </a:solidFill>
                <a:latin typeface="Calibri"/>
              </a:rPr>
              <a:t>IIT Tirupati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200400"/>
            <a:ext cx="2194560" cy="13716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3200400"/>
            <a:ext cx="2194560" cy="8229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331012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C39A"/>
                </a:solidFill>
                <a:latin typeface="Calibr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886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6F8A"/>
                </a:solidFill>
                <a:latin typeface="Calibri"/>
              </a:rPr>
              <a:t>Hit Rate @3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3200400"/>
            <a:ext cx="2194560" cy="13716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200400"/>
            <a:ext cx="2194560" cy="8229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331012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C39A"/>
                </a:solidFill>
                <a:latin typeface="Calibri"/>
              </a:rPr>
              <a:t>1.00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886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6F8A"/>
                </a:solidFill>
                <a:latin typeface="Calibri"/>
              </a:rPr>
              <a:t>MRR @5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3200400"/>
            <a:ext cx="2194560" cy="13716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09760" y="3200400"/>
            <a:ext cx="2194560" cy="8229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46920" y="3310128"/>
            <a:ext cx="1920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02C39A"/>
                </a:solidFill>
                <a:latin typeface="Calibri"/>
              </a:rPr>
              <a:t>2.9</a:t>
            </a:r>
            <a:r>
              <a:rPr lang="en-IN" sz="2800" b="1" i="0" dirty="0">
                <a:solidFill>
                  <a:srgbClr val="02C39A"/>
                </a:solidFill>
                <a:latin typeface="Calibri"/>
              </a:rPr>
              <a:t>6</a:t>
            </a:r>
            <a:r>
              <a:rPr sz="2800" b="1" i="0" dirty="0">
                <a:solidFill>
                  <a:srgbClr val="02C39A"/>
                </a:solidFill>
                <a:latin typeface="Calibri"/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3886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6F8A"/>
                </a:solidFill>
                <a:latin typeface="Calibri"/>
              </a:rPr>
              <a:t>Avg 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937760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6F8A"/>
                </a:solidFill>
                <a:latin typeface="Calibri"/>
              </a:rPr>
              <a:t>Bridging the gap between MSEs and BIS compliance — instantly.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FD7F56-C0D3-C4C8-4F10-CA2DF49EBDC3}"/>
              </a:ext>
            </a:extLst>
          </p:cNvPr>
          <p:cNvSpPr txBox="1"/>
          <p:nvPr/>
        </p:nvSpPr>
        <p:spPr>
          <a:xfrm>
            <a:off x="182880" y="4297680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300" dirty="0">
                <a:solidFill>
                  <a:srgbClr val="FFFFFF"/>
                </a:solidFill>
                <a:latin typeface="Calibri"/>
              </a:rPr>
              <a:t>Team: </a:t>
            </a:r>
            <a:r>
              <a:rPr lang="en-IN" sz="1300" dirty="0" err="1">
                <a:solidFill>
                  <a:srgbClr val="FFFFFF"/>
                </a:solidFill>
                <a:latin typeface="Calibri"/>
              </a:rPr>
              <a:t>urmikanrar</a:t>
            </a:r>
            <a:r>
              <a:rPr lang="en-IN" sz="1300" dirty="0">
                <a:solidFill>
                  <a:srgbClr val="FFFFFF"/>
                </a:solidFill>
                <a:latin typeface="Calibri"/>
              </a:rPr>
              <a:t>__</a:t>
            </a:r>
            <a:endParaRPr sz="13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00A896"/>
                </a:solidFill>
                <a:latin typeface="Calibr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3474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840480" cy="914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A896"/>
                </a:solidFill>
                <a:latin typeface="Calibri"/>
              </a:rPr>
              <a:t>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spent by Indian MSEs identifying applicable BIS standards for their products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280160"/>
            <a:ext cx="6858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1280160"/>
            <a:ext cx="64008" cy="6858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0" y="1353312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D3D"/>
                </a:solidFill>
                <a:latin typeface="Calibri"/>
              </a:rPr>
              <a:t>📋  No single searchable BIS catalogue exists for small businesses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103120"/>
            <a:ext cx="6858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0" y="2103120"/>
            <a:ext cx="64008" cy="6858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2176272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D3D"/>
                </a:solidFill>
                <a:latin typeface="Calibri"/>
              </a:rPr>
              <a:t>🔍  Manual search through hundreds of IS standards is error-prone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926080"/>
            <a:ext cx="6858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4880" y="2926080"/>
            <a:ext cx="64008" cy="6858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0" y="2999232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D3D"/>
                </a:solidFill>
                <a:latin typeface="Calibri"/>
              </a:rPr>
              <a:t>💸  Non-compliance risks fines, product recalls &amp; halted production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3749039"/>
            <a:ext cx="6858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80" y="3749039"/>
            <a:ext cx="64008" cy="6858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3822191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D3D"/>
                </a:solidFill>
                <a:latin typeface="Calibri"/>
              </a:rPr>
              <a:t>⏱  Weeks of delay = lost revenue and market entry barriers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83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6F8A"/>
                </a:solidFill>
                <a:latin typeface="Calibri"/>
              </a:rPr>
              <a:t>Target: Indian Micro &amp; Small Enterprises (MSEs)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00A896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An AI-Powered RAG System that maps plain-English product descriptions to the top 3–5 relevant BIS standards in under 5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40280"/>
            <a:ext cx="5394960" cy="17373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5394960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4048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🔎  Hybrid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F8A"/>
                </a:solidFill>
                <a:latin typeface="Calibri"/>
              </a:rPr>
              <a:t>FAISS dense search + BM25 keyword matching fused with Reciprocal Rank Fusion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240280"/>
            <a:ext cx="5394960" cy="17373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2240280"/>
            <a:ext cx="5394960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4048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🤖  LLM Reranking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346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F8A"/>
                </a:solidFill>
                <a:latin typeface="Calibri"/>
              </a:rPr>
              <a:t>GPT-4o-mini reorders top-10 candidates by true business relevance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51960"/>
            <a:ext cx="5394960" cy="17373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251960"/>
            <a:ext cx="5394960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416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⚡  Instant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F8A"/>
                </a:solidFill>
                <a:latin typeface="Calibri"/>
              </a:rPr>
              <a:t>Top 3–5 BIS standards with titles &amp; descriptions returned in ~3 seconds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251960"/>
            <a:ext cx="5394960" cy="17373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4251960"/>
            <a:ext cx="5394960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4416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🛡  Zero Hallucination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8463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F8A"/>
                </a:solidFill>
                <a:latin typeface="Calibri"/>
              </a:rPr>
              <a:t>LLM strictly limited to candidate list — no invented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00A896"/>
                </a:solidFill>
                <a:latin typeface="Calibr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192024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93192" y="1463040"/>
            <a:ext cx="384048" cy="3840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" y="14630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202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Product
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670048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6F8A"/>
                </a:solidFill>
                <a:latin typeface="Calibri"/>
              </a:rPr>
              <a:t>Plain English query from business 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22402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371600"/>
            <a:ext cx="192024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42032" y="1463040"/>
            <a:ext cx="384048" cy="3840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42032" y="14630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9202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Hybrid
Retriever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670048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6F8A"/>
                </a:solidFill>
                <a:latin typeface="Calibri"/>
              </a:rPr>
              <a:t>FAISS + BM25
+ RRF 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2402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1371600"/>
            <a:ext cx="192024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90872" y="1463040"/>
            <a:ext cx="384048" cy="3840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0872" y="14630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19202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Top-10
Candidates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2670048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6F8A"/>
                </a:solidFill>
                <a:latin typeface="Calibri"/>
              </a:rPr>
              <a:t>Dense + sparse
results merged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2402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1371600"/>
            <a:ext cx="192024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39712" y="1463040"/>
            <a:ext cx="384048" cy="3840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39712" y="14630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9202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LLM
Reranker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670048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6F8A"/>
                </a:solidFill>
                <a:latin typeface="Calibri"/>
              </a:rPr>
              <a:t>GPT-4o-mini
grounding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4232" y="22402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1371600"/>
            <a:ext cx="192024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988552" y="1463040"/>
            <a:ext cx="384048" cy="3840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88552" y="14630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19202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Top 3–5
Standards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2670048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6F8A"/>
                </a:solidFill>
                <a:latin typeface="Calibri"/>
              </a:rPr>
              <a:t>Final BIS
recommendations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D3D"/>
                </a:solidFill>
                <a:latin typeface="Calibri"/>
              </a:rPr>
              <a:t>Key Technologies: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389120"/>
            <a:ext cx="1828800" cy="3840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44165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PyMuPDF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31720" y="4389120"/>
            <a:ext cx="1828800" cy="3840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77439" y="44165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SentenceTransformers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4389120"/>
            <a:ext cx="1828800" cy="3840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3400" y="44165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FAISS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389120"/>
            <a:ext cx="1828800" cy="3840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09359" y="44165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BM25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4389120"/>
            <a:ext cx="1828800" cy="3840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75320" y="44165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GPT-4o-mini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95560" y="4389120"/>
            <a:ext cx="1828800" cy="3840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241280" y="44165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00A896"/>
                </a:solidFill>
                <a:latin typeface="Calibr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577840" cy="233172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73152" cy="2331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A896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4173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Data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F8A"/>
                </a:solidFill>
                <a:latin typeface="Calibri"/>
              </a:rPr>
              <a:t>PyMuPDF extracts all IS-numbered entries from the BIS PDF corpus into structured JSON — capturing standard ID, title, description, and keywords.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234440"/>
            <a:ext cx="5577840" cy="233172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234440"/>
            <a:ext cx="73152" cy="2331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3716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A896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4173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Embedding &amp; Indexing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F8A"/>
                </a:solidFill>
                <a:latin typeface="Calibri"/>
              </a:rPr>
              <a:t>SentenceTransformers (all-MiniLM-L6-v2) encodes each standard locally. Vectors are stored in a FAISS flat index for cosine similarity search.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94760"/>
            <a:ext cx="5577840" cy="233172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73152" cy="2331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A896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9776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Hybrid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F8A"/>
                </a:solidFill>
                <a:latin typeface="Calibri"/>
              </a:rPr>
              <a:t>Every query runs two parallel searches: Dense (FAISS cosine similarity) + Sparse (BM25 keyword). Results fused via Reciprocal Rank Fusion → top-10 candidates.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794760"/>
            <a:ext cx="5577840" cy="233172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55080" y="3794760"/>
            <a:ext cx="73152" cy="2331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393192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A896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9776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LLM Reranking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57200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F8A"/>
                </a:solidFill>
                <a:latin typeface="Calibri"/>
              </a:rPr>
              <a:t>GPT-4o-mini reorders the top-10 by true business relevance with a strict grounding prompt. Output is only from the provided candidate list — no hallucinations possible.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TECH STACK &amp; REPO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00A896"/>
                </a:solidFill>
                <a:latin typeface="Calibr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486400" cy="4114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1887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8191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D3D"/>
                </a:solidFill>
                <a:latin typeface="Calibri"/>
              </a:rPr>
              <a:t>PyMuPDF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581912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F8A"/>
                </a:solidFill>
                <a:latin typeface="Calibri"/>
              </a:rPr>
              <a:t>PDF text extraction from BIS corpus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29967"/>
            <a:ext cx="5486400" cy="475488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05740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D3D"/>
                </a:solidFill>
                <a:latin typeface="Calibri"/>
              </a:rPr>
              <a:t>sentence-transformers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05740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F8A"/>
                </a:solidFill>
                <a:latin typeface="Calibri"/>
              </a:rPr>
              <a:t>Local semantic embeddings (no API)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05456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53288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D3D"/>
                </a:solidFill>
                <a:latin typeface="Calibri"/>
              </a:rPr>
              <a:t>faiss-cpu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532888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F8A"/>
                </a:solidFill>
                <a:latin typeface="Calibri"/>
              </a:rPr>
              <a:t>Vector similarity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80944"/>
            <a:ext cx="5486400" cy="475488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008376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D3D"/>
                </a:solidFill>
                <a:latin typeface="Calibri"/>
              </a:rPr>
              <a:t>rank-bm25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008376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F8A"/>
                </a:solidFill>
                <a:latin typeface="Calibri"/>
              </a:rPr>
              <a:t>Keyword-based BM25 retrieval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56432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483864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D3D"/>
                </a:solidFill>
                <a:latin typeface="Calibri"/>
              </a:rPr>
              <a:t>openai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483864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F8A"/>
                </a:solidFill>
                <a:latin typeface="Calibri"/>
              </a:rPr>
              <a:t>GPT-4o-mini LLM reranking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5486400" cy="475488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95935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D3D"/>
                </a:solidFill>
                <a:latin typeface="Calibri"/>
              </a:rPr>
              <a:t>python-dotenv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959352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F8A"/>
                </a:solidFill>
                <a:latin typeface="Calibri"/>
              </a:rPr>
              <a:t>Environment variable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07408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43484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D3D"/>
                </a:solidFill>
                <a:latin typeface="Calibri"/>
              </a:rPr>
              <a:t>streamlit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443484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F8A"/>
                </a:solidFill>
                <a:latin typeface="Calibri"/>
              </a:rPr>
              <a:t>Web app frontend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143000"/>
            <a:ext cx="5394960" cy="5303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0" y="1143000"/>
            <a:ext cx="5394960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12618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Repository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1783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onsolas"/>
              </a:rPr>
              <a:t>src/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21214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F8A"/>
                </a:solidFill>
                <a:latin typeface="Consolas"/>
              </a:rPr>
              <a:t>  config.py       — paths, models, env vars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459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F8A"/>
                </a:solidFill>
                <a:latin typeface="Consolas"/>
              </a:rPr>
              <a:t>  data_ingestion.py — PDF → 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2798063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F8A"/>
                </a:solidFill>
                <a:latin typeface="Consolas"/>
              </a:rPr>
              <a:t>  embedder.py     — JSON → FAISS index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13639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F8A"/>
                </a:solidFill>
                <a:latin typeface="Consolas"/>
              </a:rPr>
              <a:t>  retriever.py    — Hybrid FAISS+BM25+RRF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474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F8A"/>
                </a:solidFill>
                <a:latin typeface="Consolas"/>
              </a:rPr>
              <a:t>  llm_reranker.py — GPT-4o-mini reranker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8130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F8A"/>
                </a:solidFill>
                <a:latin typeface="Consolas"/>
              </a:rPr>
              <a:t>  pipeline.py     — end-to-end query 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1513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onsolas"/>
              </a:rPr>
              <a:t>data/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4897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F8A"/>
                </a:solidFill>
                <a:latin typeface="Consolas"/>
              </a:rPr>
              <a:t>  dataset.pdf     — BIS standards corpus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8280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F8A"/>
                </a:solidFill>
                <a:latin typeface="Consolas"/>
              </a:rPr>
              <a:t>  bis_standards.json  — parsed standards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1663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F8A"/>
                </a:solidFill>
                <a:latin typeface="Consolas"/>
              </a:rPr>
              <a:t>  public_test_set.json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55046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onsolas"/>
              </a:rPr>
              <a:t>app.py, inference.py, eval_script.py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00A896"/>
                </a:solidFill>
                <a:latin typeface="Calibr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256032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914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2C39A"/>
                </a:solidFill>
                <a:latin typeface="Calibri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Hit Rate @3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9C74F"/>
                </a:solidFill>
                <a:latin typeface="Calibri"/>
              </a:rPr>
              <a:t>✓ &gt; 80%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A6F8A"/>
                </a:solidFill>
                <a:latin typeface="Calibri"/>
              </a:rPr>
              <a:t>≥1 expected standard in top-3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657600" cy="256032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3657600" cy="914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371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2C39A"/>
                </a:solidFill>
                <a:latin typeface="Calibri"/>
              </a:rPr>
              <a:t>1.000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40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MRR @5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9C74F"/>
                </a:solidFill>
                <a:latin typeface="Calibri"/>
              </a:rPr>
              <a:t>✓ &gt; 0.70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0175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A6F8A"/>
                </a:solidFill>
                <a:latin typeface="Calibri"/>
              </a:rPr>
              <a:t>Mean Reciprocal Rank of first correct result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188720"/>
            <a:ext cx="3657600" cy="256032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657600" cy="914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371600"/>
            <a:ext cx="3474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solidFill>
                  <a:srgbClr val="02C39A"/>
                </a:solidFill>
                <a:latin typeface="Calibri"/>
              </a:rPr>
              <a:t>2.9</a:t>
            </a:r>
            <a:r>
              <a:rPr lang="en-IN" sz="4000" b="1" i="0" dirty="0">
                <a:solidFill>
                  <a:srgbClr val="02C39A"/>
                </a:solidFill>
                <a:latin typeface="Calibri"/>
              </a:rPr>
              <a:t>6</a:t>
            </a:r>
            <a:r>
              <a:rPr sz="4000" b="1" i="0" dirty="0">
                <a:solidFill>
                  <a:srgbClr val="02C39A"/>
                </a:solidFill>
                <a:latin typeface="Calibri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40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Avg 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9C74F"/>
                </a:solidFill>
                <a:latin typeface="Calibri"/>
              </a:rPr>
              <a:t>✓ &lt; 5 sec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0175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A6F8A"/>
                </a:solidFill>
                <a:latin typeface="Calibri"/>
              </a:rPr>
              <a:t>Average query-to-result time across 10 queries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114300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Public Test Set: 10 Queries   |   All targets exceeded   |   Evaluated via eval_script.py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26280"/>
            <a:ext cx="11430000" cy="16916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617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96"/>
                </a:solidFill>
                <a:latin typeface="Calibri"/>
              </a:rPr>
              <a:t>Example Query: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5604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"I make wooden toys for children under 3"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956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C39A"/>
                </a:solidFill>
                <a:latin typeface="Calibri"/>
              </a:rPr>
              <a:t>→ Returns: IS 15644 (Wooden Toys), IS 9873 (Child Safety), IS 1234 (Wood Quality) +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532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6F8A"/>
                </a:solidFill>
                <a:latin typeface="Calibri"/>
              </a:rPr>
              <a:t>Live demo: bis-standard-recommendation-engine-gybzddvzi4rrezbzbpcdak.streamlit.app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8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CONCLUSION
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01752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  <a:latin typeface="Calibri"/>
              </a:rPr>
              <a:t>Transforming BIS compliance for Indian MSEs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743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0D1B2A"/>
                </a:solidFill>
                <a:latin typeface="Calibr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1005840"/>
            <a:ext cx="6675120" cy="8229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12080" y="1005840"/>
            <a:ext cx="64008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94960" y="106070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⏱  Weeks →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444752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F8A"/>
                </a:solidFill>
                <a:latin typeface="Calibri"/>
              </a:rPr>
              <a:t>Reduces compliance research from weeks to under 3 seconds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2011680"/>
            <a:ext cx="6675120" cy="8229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12080" y="2011680"/>
            <a:ext cx="64008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94960" y="206654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🎯  Precision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450592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F8A"/>
                </a:solidFill>
                <a:latin typeface="Calibri"/>
              </a:rPr>
              <a:t>100% hit rate ensures MSEs never miss critical standards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3017520"/>
            <a:ext cx="6675120" cy="8229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80" y="3017520"/>
            <a:ext cx="64008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94960" y="307238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🔒  Hallucination-Free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456432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F8A"/>
                </a:solidFill>
                <a:latin typeface="Calibri"/>
              </a:rPr>
              <a:t>Grounded LLM only returns verified BIS standard IDs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4023360"/>
            <a:ext cx="6675120" cy="8229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212080" y="4023360"/>
            <a:ext cx="64008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94960" y="40782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🚀  Scalable &amp; Extensible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462272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F8A"/>
                </a:solidFill>
                <a:latin typeface="Calibri"/>
              </a:rPr>
              <a:t>Can be extended to new sectors, standards, or languages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5029200"/>
            <a:ext cx="6675120" cy="8229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212080" y="5029200"/>
            <a:ext cx="64008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94960" y="50840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🌐  Live Streamlit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5468112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F8A"/>
                </a:solidFill>
                <a:latin typeface="Calibri"/>
              </a:rPr>
              <a:t>Ready for real-world use by Indian businesses today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608076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6F8A"/>
                </a:solidFill>
                <a:latin typeface="Calibri"/>
              </a:rPr>
              <a:t>github.com/urmikanrar2003-uk/BIS-STANDARD-RECOMMENDATION-ENGINE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717</Words>
  <Application>Microsoft Office PowerPoint</Application>
  <PresentationFormat>Custom</PresentationFormat>
  <Paragraphs>140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Urmi Kanrar</cp:lastModifiedBy>
  <cp:revision>3</cp:revision>
  <dcterms:created xsi:type="dcterms:W3CDTF">2013-01-27T09:14:16Z</dcterms:created>
  <dcterms:modified xsi:type="dcterms:W3CDTF">2026-05-03T09:22:50Z</dcterms:modified>
  <cp:category/>
</cp:coreProperties>
</file>